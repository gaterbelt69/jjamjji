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8" r:id="rId2"/>
    <p:sldId id="376" r:id="rId3"/>
    <p:sldId id="404" r:id="rId4"/>
    <p:sldId id="405" r:id="rId5"/>
    <p:sldId id="406" r:id="rId6"/>
    <p:sldId id="407" r:id="rId7"/>
    <p:sldId id="409" r:id="rId8"/>
    <p:sldId id="410" r:id="rId9"/>
    <p:sldId id="411" r:id="rId10"/>
    <p:sldId id="415" r:id="rId11"/>
    <p:sldId id="414" r:id="rId12"/>
    <p:sldId id="412" r:id="rId13"/>
    <p:sldId id="416" r:id="rId14"/>
    <p:sldId id="417" r:id="rId15"/>
    <p:sldId id="418" r:id="rId16"/>
    <p:sldId id="420" r:id="rId17"/>
    <p:sldId id="421" r:id="rId18"/>
    <p:sldId id="422" r:id="rId19"/>
    <p:sldId id="423" r:id="rId20"/>
    <p:sldId id="424" r:id="rId21"/>
    <p:sldId id="42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73C1"/>
    <a:srgbClr val="E63936"/>
    <a:srgbClr val="A1BBE3"/>
    <a:srgbClr val="FF0000"/>
    <a:srgbClr val="4472C4"/>
    <a:srgbClr val="CCFFFF"/>
    <a:srgbClr val="C00000"/>
    <a:srgbClr val="FACC8E"/>
    <a:srgbClr val="D4BCB5"/>
    <a:srgbClr val="DDC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74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282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2CFC3E-62E8-43FB-9C17-ABAF02E87D8D}" type="datetimeFigureOut">
              <a:rPr lang="en-US" smtClean="0"/>
              <a:t>8/20/2021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5FD533-AF17-417F-BD9E-903623049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11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69C86-742B-40F4-B508-7A4E3FDD0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84D2B42-715B-49D3-9B1E-E50B2FCDB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561E0E-A0AF-4392-89EE-A1E4F4B22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A25A4-A688-40C2-A168-1A9EE8F05F20}" type="datetime1">
              <a:rPr lang="en-US" smtClean="0"/>
              <a:t>8/20/2021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68D640-B32A-4DAD-8BA1-7C555CCB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DICE Lab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932C78-6B7B-41D8-A88D-6C0079EB4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626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E0B65F-EB55-4756-A310-48276F569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69C856-48F4-4D8A-AF7B-7DEED0515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050"/>
            <a:ext cx="10515600" cy="516255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34D864-907D-4E67-9C4E-9BABA7D38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B5896-10D5-4B1D-A937-E309367A13C6}" type="datetime1">
              <a:rPr lang="en-US" smtClean="0"/>
              <a:t>8/20/2021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6C84F1-35DA-4532-BABA-0D15F3CD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DICE Lab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8B2A8B-58BD-4C95-A969-FBEDA61A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2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9899FD-6B54-4C50-8FB0-005519871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000" b="1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A9A250-C725-4B22-88F5-393D7669C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45FBC6-D4AC-4FFD-96A9-D694B0343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D06ED-3B94-42AF-B535-F3038D5B2413}" type="datetime1">
              <a:rPr lang="en-US" smtClean="0"/>
              <a:t>8/20/2021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15BFCB-EB16-49AD-BBC2-38858CAD6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DICE Lab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199768-02C9-400E-BCFF-C5F80FEA1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656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0FF308-2BD3-4ED7-8F7C-55F813CA6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62050"/>
            <a:ext cx="5181600" cy="516255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FAADA2-742D-43A3-B080-28127269C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62050"/>
            <a:ext cx="5181600" cy="516255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39E984-332F-4763-B3C3-CDAE08483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A4F6F-3FE8-4B22-954F-BBEA7F05A8F1}" type="datetime1">
              <a:rPr lang="en-US" smtClean="0"/>
              <a:t>8/20/2021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B4031E-082E-441F-8187-2EE39C70E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DICE Lab</a:t>
            </a:r>
            <a:endParaRPr 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FFF2B5-AFA1-4C68-A1F9-E8A5B99D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11B2BE1A-7066-4CE0-A600-76C3500E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225"/>
            <a:ext cx="10515600" cy="800101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032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B30C0-15D0-4E47-B547-79C3D122B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62050"/>
            <a:ext cx="5157787" cy="6762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A7EC02-F93D-479C-A1B9-5519CD267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38326"/>
            <a:ext cx="5157787" cy="4486274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3896C55-4AE0-4766-B5E8-966F0F442C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55701"/>
            <a:ext cx="5183188" cy="6826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A3C7845-F918-4520-B907-EF9925D516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38325"/>
            <a:ext cx="5183188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60E8EFC-65DB-4925-9778-1A48DB073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52C26-F824-4F27-9103-618A1FB814D3}" type="datetime1">
              <a:rPr lang="en-US" smtClean="0"/>
              <a:t>8/20/2021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9737AE2-9C89-4470-9265-991C4B73E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DICE Lab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5587C81-7184-46E4-8C97-20C104A1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9DDB9C9-3B13-4742-B8D6-E99A4A25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225"/>
            <a:ext cx="10515600" cy="800101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39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24D573-2EE5-4AC9-958A-C63853FF5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477B64-A9E4-4240-BF6E-75B5FFA8F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65C5-0C9C-4F6A-A1EF-6CC0C5D687E5}" type="datetime1">
              <a:rPr lang="en-US" smtClean="0"/>
              <a:t>8/20/2021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F7C77E8-B8D9-434D-A497-142985F48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DICE Lab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4102D2-0AA7-4874-99F3-A849D325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473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A26C704-974A-476F-884D-7E4E0B93A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11BC-D55E-45DD-B58A-4EFCA010E532}" type="datetime1">
              <a:rPr lang="en-US" smtClean="0"/>
              <a:t>8/20/2021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7306B6-83AF-4C8C-81B4-717BDF786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DICE Lab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6885D8-F154-492F-807E-5E363A6AD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27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E2DD9A-2B46-4494-ACFA-F5FC99150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B955BF-6DA4-4CC9-9AE7-A922B2750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979FD1-3E3E-4DA2-B46C-5CCF3256C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1F8EE1-72B9-42F9-8B09-55C48C28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9FD2-0CA2-408E-833E-45CC9BF1AB8C}" type="datetime1">
              <a:rPr lang="en-US" smtClean="0"/>
              <a:t>8/20/2021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61CB1F-3D61-48A5-BDB2-16FD6A2B5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DICE Lab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A17B69-9B90-44A8-B6B2-2133BC624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16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FC3C31-C9DF-4463-BB44-43AC98EA4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73B28E0-CD8E-473D-AEDF-17041BC0B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ED7A9C-A51C-4072-AF71-6545F36D1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01FE21-99EF-44AE-BE71-381812F9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47F46-13FD-456D-A3AF-8E81F63B8844}" type="datetime1">
              <a:rPr lang="en-US" smtClean="0"/>
              <a:t>8/20/2021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48E003-D817-4EEB-B86C-974355A3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DICE Lab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1C33A1-F9F1-476F-B638-69AB24F42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7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8AE0C3-B5F2-46B4-BA25-472CF7FCD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709533-7535-4D8C-9FF2-26B9CA6831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57CEA2-91D3-48B2-BAC1-9A4B48DAC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F55FF-FAAE-4995-8121-14A5BB49C55B}" type="datetime1">
              <a:rPr lang="en-US" smtClean="0"/>
              <a:t>8/20/2021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6C4CCC-9208-4599-9A86-86816F380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DICE Lab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57D899-2B0F-4BCE-AB40-6133B9295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334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6E64224-C4DA-4E46-91DD-29121FC921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61BABB-F6E0-487F-B6D9-5AE6E5439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72F386-485E-4BD7-9949-AB0970FD9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487B-AF4C-4632-9609-0CC4EAB70E84}" type="datetime1">
              <a:rPr lang="en-US" smtClean="0"/>
              <a:t>8/20/2021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6AC910-431E-43F6-864D-A1EDB91F4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DICE Lab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3AC883-B018-4255-9E57-AD442BE2A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81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31DDDE-45BC-416D-8B14-7F1131B97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225"/>
            <a:ext cx="10515600" cy="800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폰트 스타일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57B6E1-1F8D-4ED0-8E10-E8BBEDEC6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90624"/>
            <a:ext cx="10515600" cy="5105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8002C6-94EC-4644-B354-0F10D1966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39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200" kern="1200" smtClean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fld id="{A6FECF54-0229-466C-A8B3-BD1774244CB7}" type="datetime1">
              <a:rPr lang="en-US" smtClean="0"/>
              <a:t>8/20/2021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7941E4-EAC2-490A-90D7-6FB009ACEA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39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/>
              <a:t>DICE Lab</a:t>
            </a:r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02710F-D820-42B5-858B-77831877B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039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200" kern="1200" smtClean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fld id="{3DED8FD6-5B8F-4B42-80AC-0030065FA8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403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8D021F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78FBE-82A2-4D3C-910D-9F27CE3B7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734" y="486600"/>
            <a:ext cx="11079480" cy="1382712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Review: </a:t>
            </a:r>
            <a:br>
              <a:rPr lang="en-US" dirty="0"/>
            </a:br>
            <a:r>
              <a:rPr lang="en-US" altLang="ko-KR" dirty="0"/>
              <a:t>A Discriminative Feature Learning Approach for Deep Face Recognition@ECCV’2016</a:t>
            </a:r>
            <a:endParaRPr 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22A6F89-4C1A-418F-A0AD-2B02573A0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88688"/>
            <a:ext cx="9144000" cy="1869311"/>
          </a:xfrm>
        </p:spPr>
        <p:txBody>
          <a:bodyPr>
            <a:normAutofit/>
          </a:bodyPr>
          <a:lstStyle/>
          <a:p>
            <a:r>
              <a:rPr lang="en-US" sz="2200" b="1" dirty="0"/>
              <a:t>dukes123@koreatech.ac.kr</a:t>
            </a:r>
          </a:p>
          <a:p>
            <a:r>
              <a:rPr lang="en-US" sz="2200" b="1" dirty="0"/>
              <a:t>DICE Lab</a:t>
            </a:r>
          </a:p>
          <a:p>
            <a:r>
              <a:rPr lang="en-US" sz="2200" b="1" dirty="0"/>
              <a:t>KOREA</a:t>
            </a:r>
            <a:r>
              <a:rPr lang="en-US" sz="2200" b="1" dirty="0">
                <a:solidFill>
                  <a:srgbClr val="8D021F"/>
                </a:solidFill>
              </a:rPr>
              <a:t>TECH</a:t>
            </a:r>
            <a:endParaRPr lang="en-US" sz="2200" b="1" dirty="0"/>
          </a:p>
          <a:p>
            <a:r>
              <a:rPr lang="en-US" sz="2200" b="1" dirty="0">
                <a:solidFill>
                  <a:srgbClr val="8D021F"/>
                </a:solidFill>
              </a:rPr>
              <a:t>2021.08.17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8CB4FC-ED59-4196-AEED-47E39079FD2E}"/>
              </a:ext>
            </a:extLst>
          </p:cNvPr>
          <p:cNvSpPr/>
          <p:nvPr/>
        </p:nvSpPr>
        <p:spPr>
          <a:xfrm>
            <a:off x="5576949" y="4388495"/>
            <a:ext cx="103105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200" b="1" dirty="0"/>
              <a:t>김경민</a:t>
            </a:r>
            <a:endParaRPr lang="en-US" sz="2200" b="1" dirty="0"/>
          </a:p>
        </p:txBody>
      </p:sp>
      <p:pic>
        <p:nvPicPr>
          <p:cNvPr id="2050" name="Picture 2" descr="https://lh5.googleusercontent.com/rzgrRG6038HijyF6-McYqN7Brw0iqhYCoE07npYnr62oHzfu5ns9vJOF7gvQaygarbZwKVD-4n3CALpaHnftnv9LZF3mnaBn3O_yLHyuJjAAtcWtd5-quCNf2QFHSGbUZQ=w1280">
            <a:extLst>
              <a:ext uri="{FF2B5EF4-FFF2-40B4-BE49-F238E27FC236}">
                <a16:creationId xmlns:a16="http://schemas.microsoft.com/office/drawing/2014/main" id="{61E3E190-E4D6-4A04-B1E5-97D9643FE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223" y="2199321"/>
            <a:ext cx="1838501" cy="218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0735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5A6096-A2F2-4C43-918C-88696767F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2</a:t>
            </a:fld>
            <a:endParaRPr 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3AFEEEC-71BF-401C-BB43-37636015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168"/>
            <a:ext cx="10515600" cy="2852737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7588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01DED-3E3A-4166-9C4E-7B0E77FE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2FF8A-0980-4AE4-A351-BC975FF52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3661"/>
            <a:ext cx="10515600" cy="5162550"/>
          </a:xfrm>
        </p:spPr>
        <p:txBody>
          <a:bodyPr>
            <a:normAutofit/>
          </a:bodyPr>
          <a:lstStyle/>
          <a:p>
            <a:pPr marL="342900" indent="-342900"/>
            <a:r>
              <a:rPr lang="en-US" altLang="ko-KR" dirty="0"/>
              <a:t>Separable VS Discriminative </a:t>
            </a:r>
          </a:p>
          <a:p>
            <a:pPr marL="800100" lvl="1" indent="-342900"/>
            <a:r>
              <a:rPr lang="en-US" altLang="ko-KR" dirty="0"/>
              <a:t>Intra-class variations</a:t>
            </a:r>
          </a:p>
          <a:p>
            <a:pPr marL="1257300" lvl="2" indent="-342900"/>
            <a:r>
              <a:rPr lang="en-US" altLang="ko-KR" dirty="0"/>
              <a:t>Class</a:t>
            </a:r>
            <a:r>
              <a:rPr lang="ko-KR" altLang="en-US" dirty="0"/>
              <a:t> 내부의 분산이 </a:t>
            </a:r>
            <a:r>
              <a:rPr lang="ko-KR" altLang="en-US" dirty="0" err="1"/>
              <a:t>어떠한가</a:t>
            </a:r>
            <a:r>
              <a:rPr lang="en-US" altLang="ko-KR" dirty="0"/>
              <a:t>?</a:t>
            </a:r>
          </a:p>
          <a:p>
            <a:pPr marL="1257300" lvl="2" indent="-342900"/>
            <a:r>
              <a:rPr lang="ko-KR" altLang="en-US" dirty="0"/>
              <a:t>작을수록 같은 </a:t>
            </a:r>
            <a:r>
              <a:rPr lang="en-US" altLang="ko-KR" dirty="0"/>
              <a:t>class </a:t>
            </a:r>
            <a:r>
              <a:rPr lang="ko-KR" altLang="en-US" dirty="0"/>
              <a:t>일 때 한곳으로 </a:t>
            </a:r>
            <a:r>
              <a:rPr lang="ko-KR" altLang="en-US" dirty="0" err="1"/>
              <a:t>모여있음</a:t>
            </a:r>
            <a:endParaRPr lang="en-US" altLang="ko-KR" dirty="0"/>
          </a:p>
          <a:p>
            <a:pPr marL="800100" lvl="1" indent="-342900"/>
            <a:r>
              <a:rPr lang="en-US" altLang="ko-KR" dirty="0"/>
              <a:t>Inter-class variations</a:t>
            </a:r>
          </a:p>
          <a:p>
            <a:pPr marL="1257300" lvl="2" indent="-342900"/>
            <a:r>
              <a:rPr lang="en-US" altLang="ko-KR" dirty="0"/>
              <a:t>Class </a:t>
            </a:r>
            <a:r>
              <a:rPr lang="ko-KR" altLang="en-US" dirty="0"/>
              <a:t>간의 분산이 </a:t>
            </a:r>
            <a:r>
              <a:rPr lang="ko-KR" altLang="en-US" dirty="0" err="1"/>
              <a:t>어떠한가</a:t>
            </a:r>
            <a:r>
              <a:rPr lang="en-US" altLang="ko-KR" dirty="0"/>
              <a:t>?</a:t>
            </a:r>
          </a:p>
          <a:p>
            <a:pPr marL="1257300" lvl="2" indent="-342900"/>
            <a:r>
              <a:rPr lang="ko-KR" altLang="en-US" dirty="0"/>
              <a:t>높을수록 각각 다른 </a:t>
            </a:r>
            <a:r>
              <a:rPr lang="en-US" altLang="ko-KR" dirty="0"/>
              <a:t>class </a:t>
            </a:r>
            <a:r>
              <a:rPr lang="ko-KR" altLang="en-US" dirty="0"/>
              <a:t>간의 거리가 </a:t>
            </a:r>
            <a:r>
              <a:rPr lang="ko-KR" altLang="en-US" dirty="0" err="1"/>
              <a:t>멈</a:t>
            </a:r>
            <a:r>
              <a:rPr lang="ko-KR" altLang="en-US" dirty="0"/>
              <a:t> </a:t>
            </a:r>
            <a:endParaRPr lang="en-US" altLang="ko-KR" dirty="0"/>
          </a:p>
          <a:p>
            <a:pPr marL="800100" lvl="1" indent="-342900"/>
            <a:r>
              <a:rPr lang="en-US" altLang="ko-KR" dirty="0"/>
              <a:t>Inter-class variations</a:t>
            </a:r>
            <a:r>
              <a:rPr lang="ko-KR" altLang="en-US" dirty="0"/>
              <a:t>가 충분히 크다면 </a:t>
            </a:r>
            <a:r>
              <a:rPr lang="en-US" altLang="ko-KR" dirty="0"/>
              <a:t>separable</a:t>
            </a:r>
            <a:r>
              <a:rPr lang="ko-KR" altLang="en-US" dirty="0"/>
              <a:t>하고</a:t>
            </a:r>
            <a:r>
              <a:rPr lang="en-US" altLang="ko-KR" dirty="0"/>
              <a:t>,</a:t>
            </a:r>
            <a:r>
              <a:rPr lang="ko-KR" altLang="en-US" dirty="0"/>
              <a:t> 거기에</a:t>
            </a:r>
            <a:r>
              <a:rPr lang="en-US" altLang="ko-KR" dirty="0"/>
              <a:t> inter-class</a:t>
            </a:r>
            <a:r>
              <a:rPr lang="ko-KR" altLang="en-US" dirty="0"/>
              <a:t> </a:t>
            </a:r>
            <a:r>
              <a:rPr lang="en-US" altLang="ko-KR" dirty="0"/>
              <a:t>variations</a:t>
            </a:r>
            <a:r>
              <a:rPr lang="ko-KR" altLang="en-US" dirty="0"/>
              <a:t>도 작다면 </a:t>
            </a:r>
            <a:r>
              <a:rPr lang="en-US" altLang="ko-KR" dirty="0"/>
              <a:t>Discriminative</a:t>
            </a:r>
            <a:r>
              <a:rPr lang="ko-KR" altLang="en-US" dirty="0"/>
              <a:t>하다 볼 수 있음</a:t>
            </a:r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F62E2-03D6-4A35-961D-0DBC6977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3</a:t>
            </a:fld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4E2BB0-49C3-46EF-8B1F-AF9DF07B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317" y="4628034"/>
            <a:ext cx="4141365" cy="222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70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01DED-3E3A-4166-9C4E-7B0E77FE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2FF8A-0980-4AE4-A351-BC975FF52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050"/>
            <a:ext cx="10897998" cy="5162550"/>
          </a:xfrm>
        </p:spPr>
        <p:txBody>
          <a:bodyPr>
            <a:normAutofit/>
          </a:bodyPr>
          <a:lstStyle/>
          <a:p>
            <a:pPr marL="342900" indent="-342900"/>
            <a:r>
              <a:rPr lang="en-US" dirty="0"/>
              <a:t>Face recognition task</a:t>
            </a:r>
          </a:p>
          <a:p>
            <a:pPr marL="800100" lvl="1" indent="-342900"/>
            <a:r>
              <a:rPr lang="ko-KR" altLang="en-US" dirty="0"/>
              <a:t>모든 사람을 위한 </a:t>
            </a:r>
            <a:r>
              <a:rPr lang="en-US" altLang="ko-KR" dirty="0"/>
              <a:t>label</a:t>
            </a:r>
            <a:r>
              <a:rPr lang="ko-KR" altLang="en-US" dirty="0"/>
              <a:t>을 가지고 있을 수는 없음</a:t>
            </a:r>
            <a:endParaRPr lang="en-US" altLang="ko-KR" dirty="0"/>
          </a:p>
          <a:p>
            <a:pPr marL="800100" lvl="1" indent="-342900"/>
            <a:r>
              <a:rPr lang="ko-KR" altLang="en-US" dirty="0"/>
              <a:t>한번도 못 본 얼굴을 위해서는 </a:t>
            </a:r>
            <a:r>
              <a:rPr lang="en-US" altLang="ko-KR" dirty="0"/>
              <a:t>discriminative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가 필요함</a:t>
            </a:r>
            <a:r>
              <a:rPr lang="en-US" altLang="ko-KR" dirty="0"/>
              <a:t>.</a:t>
            </a:r>
          </a:p>
          <a:p>
            <a:pPr marL="1257300" lvl="2" indent="-342900"/>
            <a:r>
              <a:rPr lang="en-US" altLang="ko-KR" dirty="0"/>
              <a:t>Discriminative</a:t>
            </a:r>
            <a:r>
              <a:rPr lang="ko-KR" altLang="en-US" dirty="0"/>
              <a:t> 하다면 같은 얼굴일 때 비슷한 유사도를 가지므로 구분 가능함 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 </a:t>
            </a:r>
            <a:endParaRPr lang="en-US" dirty="0"/>
          </a:p>
          <a:p>
            <a:pPr marL="342900" indent="-342900"/>
            <a:r>
              <a:rPr lang="en-US" dirty="0" err="1"/>
              <a:t>Softmax</a:t>
            </a:r>
            <a:r>
              <a:rPr lang="en-US" dirty="0"/>
              <a:t> loss</a:t>
            </a:r>
          </a:p>
          <a:p>
            <a:pPr marL="800100" lvl="1" indent="-342900"/>
            <a:r>
              <a:rPr lang="en-US" altLang="ko-KR" dirty="0"/>
              <a:t>Feature</a:t>
            </a:r>
            <a:r>
              <a:rPr lang="ko-KR" altLang="en-US" dirty="0"/>
              <a:t>의 </a:t>
            </a:r>
            <a:r>
              <a:rPr lang="en-US" altLang="ko-KR" dirty="0"/>
              <a:t>separability</a:t>
            </a:r>
            <a:r>
              <a:rPr lang="ko-KR" altLang="en-US" dirty="0"/>
              <a:t>만 강화 시킬 수 있음</a:t>
            </a:r>
            <a:endParaRPr lang="en-US" altLang="ko-KR" dirty="0"/>
          </a:p>
          <a:p>
            <a:pPr marL="800100" lvl="1" indent="-342900"/>
            <a:r>
              <a:rPr lang="en-US" altLang="ko-KR" dirty="0"/>
              <a:t>Discriminative power</a:t>
            </a:r>
            <a:r>
              <a:rPr lang="ko-KR" altLang="en-US" dirty="0"/>
              <a:t>는 강화 시키지 못함</a:t>
            </a:r>
            <a:endParaRPr lang="en-US" altLang="ko-KR" dirty="0"/>
          </a:p>
          <a:p>
            <a:pPr marL="800100" lvl="1" indent="-342900"/>
            <a:r>
              <a:rPr lang="ko-KR" altLang="en-US" dirty="0"/>
              <a:t>따라서 </a:t>
            </a:r>
            <a:r>
              <a:rPr lang="en-US" altLang="ko-KR" dirty="0"/>
              <a:t>face recognition task</a:t>
            </a:r>
            <a:r>
              <a:rPr lang="ko-KR" altLang="en-US" dirty="0"/>
              <a:t>에 </a:t>
            </a:r>
            <a:r>
              <a:rPr lang="en-US" altLang="ko-KR" dirty="0" err="1"/>
              <a:t>softmax</a:t>
            </a:r>
            <a:r>
              <a:rPr lang="en-US" altLang="ko-KR" dirty="0"/>
              <a:t> loss</a:t>
            </a:r>
            <a:r>
              <a:rPr lang="ko-KR" altLang="en-US" dirty="0"/>
              <a:t>만 사용하는 건 적절치 않음</a:t>
            </a:r>
            <a:endParaRPr lang="en-US" altLang="ko-KR" dirty="0"/>
          </a:p>
          <a:p>
            <a:pPr marL="800100" lvl="1" indent="-342900"/>
            <a:endParaRPr lang="en-US" altLang="ko-KR" dirty="0"/>
          </a:p>
          <a:p>
            <a:pPr marL="800100" lvl="1" indent="-342900"/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F62E2-03D6-4A35-961D-0DBC6977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650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01DED-3E3A-4166-9C4E-7B0E77FE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2FF8A-0980-4AE4-A351-BC975FF52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3661"/>
            <a:ext cx="10515600" cy="5162550"/>
          </a:xfrm>
        </p:spPr>
        <p:txBody>
          <a:bodyPr>
            <a:normAutofit/>
          </a:bodyPr>
          <a:lstStyle/>
          <a:p>
            <a:pPr marL="342900" indent="-342900"/>
            <a:r>
              <a:rPr lang="en-US" altLang="ko-KR" dirty="0"/>
              <a:t>Triple</a:t>
            </a:r>
            <a:r>
              <a:rPr lang="ko-KR" altLang="en-US" dirty="0"/>
              <a:t> </a:t>
            </a:r>
            <a:r>
              <a:rPr lang="en-US" altLang="ko-KR" dirty="0"/>
              <a:t>loss &amp; Contrastive loss</a:t>
            </a:r>
          </a:p>
          <a:p>
            <a:pPr marL="800100" lvl="1" indent="-342900"/>
            <a:r>
              <a:rPr lang="ko-KR" altLang="en-US" dirty="0"/>
              <a:t>두 </a:t>
            </a:r>
            <a:r>
              <a:rPr lang="en-US" altLang="ko-KR" dirty="0"/>
              <a:t>loss </a:t>
            </a:r>
            <a:r>
              <a:rPr lang="ko-KR" altLang="en-US" dirty="0"/>
              <a:t>모두 </a:t>
            </a:r>
            <a:r>
              <a:rPr lang="en-US" altLang="ko-KR" dirty="0"/>
              <a:t>image</a:t>
            </a:r>
            <a:r>
              <a:rPr lang="ko-KR" altLang="en-US" dirty="0"/>
              <a:t> 간의 비교를 통하여 </a:t>
            </a:r>
            <a:r>
              <a:rPr lang="en-US" altLang="ko-KR" dirty="0"/>
              <a:t>loss</a:t>
            </a:r>
            <a:r>
              <a:rPr lang="ko-KR" altLang="en-US" dirty="0"/>
              <a:t>를 계산함</a:t>
            </a:r>
            <a:r>
              <a:rPr lang="en-US" altLang="ko-KR" dirty="0"/>
              <a:t>.</a:t>
            </a:r>
          </a:p>
          <a:p>
            <a:pPr marL="800100" lvl="1" indent="-342900"/>
            <a:r>
              <a:rPr lang="en-US" altLang="ko-KR" dirty="0"/>
              <a:t>Face recognition task</a:t>
            </a:r>
            <a:r>
              <a:rPr lang="ko-KR" altLang="en-US" dirty="0"/>
              <a:t>에 잘 먹힐 수는 있음</a:t>
            </a:r>
            <a:r>
              <a:rPr lang="en-US" altLang="ko-KR" dirty="0"/>
              <a:t>(</a:t>
            </a:r>
            <a:r>
              <a:rPr lang="ko-KR" altLang="en-US" dirty="0"/>
              <a:t>서로 비교하는 거니까</a:t>
            </a:r>
            <a:r>
              <a:rPr lang="en-US" altLang="ko-KR" dirty="0"/>
              <a:t>)</a:t>
            </a:r>
          </a:p>
          <a:p>
            <a:pPr marL="800100" lvl="1" indent="-342900"/>
            <a:r>
              <a:rPr lang="ko-KR" altLang="en-US" dirty="0"/>
              <a:t>그러나 </a:t>
            </a:r>
            <a:r>
              <a:rPr lang="en-US" altLang="ko-KR" dirty="0"/>
              <a:t>image sample</a:t>
            </a:r>
            <a:r>
              <a:rPr lang="ko-KR" altLang="en-US" dirty="0"/>
              <a:t>이 늘어나면 </a:t>
            </a:r>
            <a:r>
              <a:rPr lang="en-US" altLang="ko-KR" dirty="0"/>
              <a:t>loss</a:t>
            </a:r>
            <a:r>
              <a:rPr lang="ko-KR" altLang="en-US" dirty="0"/>
              <a:t>들도 어마어마하게 늘어나게 됨</a:t>
            </a:r>
            <a:endParaRPr lang="en-US" altLang="ko-KR" dirty="0"/>
          </a:p>
          <a:p>
            <a:pPr marL="800100" lvl="1" indent="-342900"/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F62E2-03D6-4A35-961D-0DBC6977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B23C00-61EF-4F66-BEBE-C0A365DC4396}"/>
              </a:ext>
            </a:extLst>
          </p:cNvPr>
          <p:cNvSpPr txBox="1"/>
          <p:nvPr/>
        </p:nvSpPr>
        <p:spPr>
          <a:xfrm>
            <a:off x="1518407" y="4420999"/>
            <a:ext cx="9155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/>
              <a:t>Discriminative power</a:t>
            </a:r>
            <a:r>
              <a:rPr lang="ko-KR" altLang="en-US" sz="2800" b="1" dirty="0"/>
              <a:t>를 위한 새로운 종류의 </a:t>
            </a:r>
            <a:r>
              <a:rPr lang="en-US" altLang="ko-KR" sz="2800" b="1" dirty="0"/>
              <a:t>loss</a:t>
            </a:r>
            <a:r>
              <a:rPr lang="ko-KR" altLang="en-US" sz="2800" b="1" dirty="0"/>
              <a:t>가 필요</a:t>
            </a:r>
            <a:r>
              <a:rPr lang="en-US" altLang="ko-KR" sz="2800" b="1" dirty="0"/>
              <a:t>!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305329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5A6096-A2F2-4C43-918C-88696767F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6</a:t>
            </a:fld>
            <a:endParaRPr 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3AFEEEC-71BF-401C-BB43-37636015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168"/>
            <a:ext cx="10515600" cy="2852737"/>
          </a:xfrm>
        </p:spPr>
        <p:txBody>
          <a:bodyPr/>
          <a:lstStyle/>
          <a:p>
            <a:r>
              <a:rPr lang="en-US" altLang="ko-KR" dirty="0"/>
              <a:t>Center loss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7284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01DED-3E3A-4166-9C4E-7B0E77FE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42FF8A-0980-4AE4-A351-BC975FF525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62050"/>
                <a:ext cx="10897998" cy="5162550"/>
              </a:xfrm>
            </p:spPr>
            <p:txBody>
              <a:bodyPr>
                <a:normAutofit/>
              </a:bodyPr>
              <a:lstStyle/>
              <a:p>
                <a:pPr marL="342900" indent="-342900"/>
                <a:r>
                  <a:rPr lang="en-US" altLang="ko-KR" dirty="0"/>
                  <a:t>MNIST data set</a:t>
                </a:r>
                <a:r>
                  <a:rPr lang="ko-KR" altLang="en-US" dirty="0"/>
                  <a:t> 사용</a:t>
                </a:r>
                <a:endParaRPr lang="en-US" altLang="ko-KR" dirty="0"/>
              </a:p>
              <a:p>
                <a:pPr marL="342900" indent="-342900"/>
                <a:r>
                  <a:rPr lang="en-US" altLang="ko-KR" dirty="0" err="1"/>
                  <a:t>LeNET</a:t>
                </a:r>
                <a:r>
                  <a:rPr lang="ko-KR" altLang="en-US" dirty="0"/>
                  <a:t>을 변형하여 </a:t>
                </a:r>
                <a:r>
                  <a:rPr lang="en-US" altLang="ko-KR" dirty="0"/>
                  <a:t>output dimension</a:t>
                </a:r>
                <a:r>
                  <a:rPr lang="ko-KR" altLang="en-US" dirty="0"/>
                  <a:t>을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로 줄임</a:t>
                </a:r>
                <a:r>
                  <a:rPr lang="en-US" altLang="ko-KR" dirty="0"/>
                  <a:t>(2</a:t>
                </a:r>
                <a:r>
                  <a:rPr lang="ko-KR" altLang="en-US" dirty="0"/>
                  <a:t>차원으로 가시화 시키기 위해서</a:t>
                </a:r>
                <a:r>
                  <a:rPr lang="en-US" altLang="ko-KR" dirty="0"/>
                  <a:t>)</a:t>
                </a:r>
              </a:p>
              <a:p>
                <a:pPr marL="342900" indent="-342900"/>
                <a:r>
                  <a:rPr lang="en-US" altLang="ko-KR" dirty="0" err="1"/>
                  <a:t>Softmax</a:t>
                </a:r>
                <a:r>
                  <a:rPr lang="en-US" altLang="ko-KR" dirty="0"/>
                  <a:t> loss</a:t>
                </a:r>
                <a:r>
                  <a:rPr lang="ko-KR" altLang="en-US" dirty="0"/>
                  <a:t>으로 </a:t>
                </a:r>
                <a:r>
                  <a:rPr lang="en-US" altLang="ko-KR" dirty="0"/>
                  <a:t>supervision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func>
                            <m:func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Sup>
                                        <m:sSubSup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b="1" i="1">
                                              <a:latin typeface="Cambria Math" panose="02040503050406030204" pitchFamily="18" charset="0"/>
                                            </a:rPr>
                                            <m:t>𝑾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bSup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sup>
                                  </m:sSup>
                                </m:num>
                                <m:den>
                                  <m:nary>
                                    <m:naryPr>
                                      <m:chr m:val="∑"/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Sup>
                                            <m:sSubSupPr>
                                              <m:ctrlP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ko-KR" b="1" i="1">
                                                  <a:latin typeface="Cambria Math" panose="02040503050406030204" pitchFamily="18" charset="0"/>
                                                </a:rPr>
                                                <m:t>𝑾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bSup>
                                          <m:sSub>
                                            <m:sSubPr>
                                              <m:ctrlP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</m:e>
                                  </m:nary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42FF8A-0980-4AE4-A351-BC975FF525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62050"/>
                <a:ext cx="10897998" cy="5162550"/>
              </a:xfrm>
              <a:blipFill>
                <a:blip r:embed="rId2"/>
                <a:stretch>
                  <a:fillRect l="-1007" t="-21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F62E2-03D6-4A35-961D-0DBC6977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A1F0C0A-5C19-45EA-A55B-9D095B08C9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8513229"/>
                  </p:ext>
                </p:extLst>
              </p:nvPr>
            </p:nvGraphicFramePr>
            <p:xfrm>
              <a:off x="2223199" y="4272938"/>
              <a:ext cx="8128000" cy="18883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385747494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9628821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Mini-batch size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091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Class number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260245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번</m:t>
                              </m:r>
                            </m:oMath>
                          </a14:m>
                          <a:r>
                            <a:rPr lang="ko-KR" altLang="en-US" dirty="0">
                              <a:solidFill>
                                <a:schemeClr val="tx1"/>
                              </a:solidFill>
                            </a:rPr>
                            <a:t>쨰 </a:t>
                          </a:r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input</a:t>
                          </a:r>
                          <a:r>
                            <a:rPr lang="ko-KR" altLang="en-US" dirty="0">
                              <a:solidFill>
                                <a:schemeClr val="tx1"/>
                              </a:solidFill>
                            </a:rPr>
                            <a:t>의 </a:t>
                          </a:r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feature</a:t>
                          </a:r>
                          <a:r>
                            <a:rPr lang="en-US" altLang="ko-KR" baseline="0" dirty="0">
                              <a:solidFill>
                                <a:schemeClr val="tx1"/>
                              </a:solidFill>
                            </a:rPr>
                            <a:t> vector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08616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번째</m:t>
                              </m:r>
                            </m:oMath>
                          </a14:m>
                          <a:r>
                            <a:rPr lang="ko-KR" altLang="en-US" dirty="0">
                              <a:solidFill>
                                <a:schemeClr val="tx1"/>
                              </a:solidFill>
                            </a:rPr>
                            <a:t> 열의 </a:t>
                          </a:r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weight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440891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bias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872495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A1F0C0A-5C19-45EA-A55B-9D095B08C9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8513229"/>
                  </p:ext>
                </p:extLst>
              </p:nvPr>
            </p:nvGraphicFramePr>
            <p:xfrm>
              <a:off x="2223199" y="4272938"/>
              <a:ext cx="8128000" cy="18883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385747494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9628821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8197" r="-99850" b="-4295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Mini-batch size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091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8197" r="-99850" b="-3295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Class number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26024532"/>
                      </a:ext>
                    </a:extLst>
                  </a:tr>
                  <a:tr h="37090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08197" r="-99850" b="-2295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150" t="-208197" b="-2295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0861682"/>
                      </a:ext>
                    </a:extLst>
                  </a:tr>
                  <a:tr h="38785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93750" r="-99850" b="-1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150" t="-293750" b="-1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4089100"/>
                      </a:ext>
                    </a:extLst>
                  </a:tr>
                  <a:tr h="38785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93750" r="-99850" b="-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bias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872495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36484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01DED-3E3A-4166-9C4E-7B0E77FE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Toy example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2FF8A-0980-4AE4-A351-BC975FF52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050"/>
            <a:ext cx="10897998" cy="5162550"/>
          </a:xfrm>
        </p:spPr>
        <p:txBody>
          <a:bodyPr>
            <a:normAutofit/>
          </a:bodyPr>
          <a:lstStyle/>
          <a:p>
            <a:pPr marL="342900" indent="-342900"/>
            <a:r>
              <a:rPr lang="en-US" dirty="0"/>
              <a:t>Learning </a:t>
            </a:r>
            <a:r>
              <a:rPr lang="ko-KR" altLang="en-US" dirty="0"/>
              <a:t>이후 </a:t>
            </a:r>
            <a:r>
              <a:rPr lang="en-US" altLang="ko-KR" dirty="0"/>
              <a:t>feature</a:t>
            </a:r>
            <a:r>
              <a:rPr lang="ko-KR" altLang="en-US" dirty="0"/>
              <a:t>들이 </a:t>
            </a:r>
            <a:r>
              <a:rPr lang="en-US" dirty="0"/>
              <a:t>Training set</a:t>
            </a:r>
            <a:r>
              <a:rPr lang="ko-KR" altLang="en-US" dirty="0"/>
              <a:t>와 </a:t>
            </a:r>
            <a:r>
              <a:rPr lang="en-US" altLang="ko-KR" dirty="0"/>
              <a:t>Test set </a:t>
            </a:r>
            <a:r>
              <a:rPr lang="ko-KR" altLang="en-US" dirty="0"/>
              <a:t>모두에서 충분히 </a:t>
            </a:r>
            <a:r>
              <a:rPr lang="en-US" altLang="ko-KR" dirty="0"/>
              <a:t>separable</a:t>
            </a:r>
            <a:r>
              <a:rPr lang="ko-KR" altLang="en-US" dirty="0"/>
              <a:t>한 결과를 보임</a:t>
            </a:r>
            <a:endParaRPr lang="en-US" altLang="ko-KR" dirty="0"/>
          </a:p>
          <a:p>
            <a:pPr marL="342900" indent="-342900"/>
            <a:r>
              <a:rPr lang="ko-KR" altLang="en-US" dirty="0"/>
              <a:t>하지만 </a:t>
            </a:r>
            <a:r>
              <a:rPr lang="en-US" altLang="ko-KR" dirty="0" err="1"/>
              <a:t>softmax</a:t>
            </a:r>
            <a:r>
              <a:rPr lang="en-US" altLang="ko-KR" dirty="0"/>
              <a:t> loss</a:t>
            </a:r>
            <a:r>
              <a:rPr lang="ko-KR" altLang="en-US" dirty="0"/>
              <a:t>를 사용하였기 때문에 </a:t>
            </a:r>
            <a:r>
              <a:rPr lang="en-US" altLang="ko-KR" dirty="0"/>
              <a:t>discriminative </a:t>
            </a:r>
            <a:r>
              <a:rPr lang="ko-KR" altLang="en-US" dirty="0"/>
              <a:t>하지는 않음</a:t>
            </a:r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F62E2-03D6-4A35-961D-0DBC6977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8</a:t>
            </a:fld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3542127-C163-49CE-8777-AD56990F4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784" y="3287106"/>
            <a:ext cx="7983416" cy="32946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435D3A-BA80-4240-8455-AC709359CC3B}"/>
              </a:ext>
            </a:extLst>
          </p:cNvPr>
          <p:cNvSpPr txBox="1"/>
          <p:nvPr/>
        </p:nvSpPr>
        <p:spPr>
          <a:xfrm>
            <a:off x="3402622" y="6488668"/>
            <a:ext cx="1723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Training set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4C441E-3ACB-46AA-9930-AB2C4016BA96}"/>
              </a:ext>
            </a:extLst>
          </p:cNvPr>
          <p:cNvSpPr txBox="1"/>
          <p:nvPr/>
        </p:nvSpPr>
        <p:spPr>
          <a:xfrm>
            <a:off x="7379676" y="6403975"/>
            <a:ext cx="1723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Test set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9539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01DED-3E3A-4166-9C4E-7B0E77FE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Center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42FF8A-0980-4AE4-A351-BC975FF525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7001" y="1487365"/>
                <a:ext cx="10897998" cy="51625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42FF8A-0980-4AE4-A351-BC975FF525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7001" y="1487365"/>
                <a:ext cx="10897998" cy="516255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F62E2-03D6-4A35-961D-0DBC6977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D74E7083-5D77-40EF-9C66-6E0A9717A4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9698294"/>
                  </p:ext>
                </p:extLst>
              </p:nvPr>
            </p:nvGraphicFramePr>
            <p:xfrm>
              <a:off x="2032000" y="3764758"/>
              <a:ext cx="8128000" cy="18710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385747494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9628821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Mini-batch size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091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번째</m:t>
                              </m:r>
                            </m:oMath>
                          </a14:m>
                          <a:r>
                            <a:rPr lang="ko-KR" alt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feature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260245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dirty="0"/>
                            <a:t>-</a:t>
                          </a:r>
                          <a:r>
                            <a:rPr lang="en-US" altLang="ko-KR" dirty="0" err="1"/>
                            <a:t>th</a:t>
                          </a:r>
                          <a:r>
                            <a:rPr lang="en-US" altLang="ko-KR" dirty="0"/>
                            <a:t> class</a:t>
                          </a:r>
                          <a:r>
                            <a:rPr lang="ko-KR" altLang="en-US" baseline="0" dirty="0"/>
                            <a:t> </a:t>
                          </a:r>
                          <a:r>
                            <a:rPr lang="en-US" altLang="ko-KR" baseline="0" dirty="0"/>
                            <a:t>deep feature</a:t>
                          </a:r>
                          <a:r>
                            <a:rPr lang="ko-KR" altLang="en-US" baseline="0" dirty="0"/>
                            <a:t>의</a:t>
                          </a:r>
                          <a:r>
                            <a:rPr lang="ko-KR" altLang="en-US" dirty="0"/>
                            <a:t> </a:t>
                          </a:r>
                          <a:r>
                            <a:rPr lang="en-US" altLang="ko-KR" dirty="0"/>
                            <a:t>center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08616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44089100"/>
                      </a:ext>
                    </a:extLst>
                  </a:tr>
                  <a:tr h="32101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872495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D74E7083-5D77-40EF-9C66-6E0A9717A4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9698294"/>
                  </p:ext>
                </p:extLst>
              </p:nvPr>
            </p:nvGraphicFramePr>
            <p:xfrm>
              <a:off x="2032000" y="3764758"/>
              <a:ext cx="8128000" cy="18710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385747494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9628821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8197" r="-100000" b="-4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Mini-batch size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091399"/>
                      </a:ext>
                    </a:extLst>
                  </a:tr>
                  <a:tr h="37090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8197" r="-100000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108197" b="-3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6024532"/>
                      </a:ext>
                    </a:extLst>
                  </a:tr>
                  <a:tr h="39268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95385" r="-100000" b="-18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195385" b="-18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08616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440891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872495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54661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01DED-3E3A-4166-9C4E-7B0E77FE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Center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42FF8A-0980-4AE4-A351-BC975FF525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7001" y="1487365"/>
                <a:ext cx="10897998" cy="51625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42FF8A-0980-4AE4-A351-BC975FF525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7001" y="1487365"/>
                <a:ext cx="10897998" cy="516255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F62E2-03D6-4A35-961D-0DBC6977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4B8B7655-AB59-4EF7-A5AE-196D692C4844}"/>
              </a:ext>
            </a:extLst>
          </p:cNvPr>
          <p:cNvSpPr txBox="1">
            <a:spLocks/>
          </p:cNvSpPr>
          <p:nvPr/>
        </p:nvSpPr>
        <p:spPr>
          <a:xfrm>
            <a:off x="838200" y="3041186"/>
            <a:ext cx="10897998" cy="5162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dirty="0"/>
              <a:t>다만 매 </a:t>
            </a:r>
            <a:r>
              <a:rPr lang="en-US" altLang="ko-KR" dirty="0"/>
              <a:t>iteration</a:t>
            </a:r>
            <a:r>
              <a:rPr lang="ko-KR" altLang="en-US" dirty="0"/>
              <a:t>마다 모든 </a:t>
            </a:r>
            <a:r>
              <a:rPr lang="en-US" altLang="ko-KR" dirty="0"/>
              <a:t>training set</a:t>
            </a:r>
            <a:r>
              <a:rPr lang="ko-KR" altLang="en-US" dirty="0"/>
              <a:t>에 대한 </a:t>
            </a:r>
            <a:r>
              <a:rPr lang="en-US" altLang="ko-KR" dirty="0"/>
              <a:t>center</a:t>
            </a:r>
            <a:r>
              <a:rPr lang="ko-KR" altLang="en-US" dirty="0"/>
              <a:t>을 구하는 건 매우 비효율적</a:t>
            </a:r>
            <a:endParaRPr lang="en-US" altLang="ko-KR" dirty="0"/>
          </a:p>
          <a:p>
            <a:pPr marL="342900" indent="-342900"/>
            <a:r>
              <a:rPr lang="ko-KR" altLang="en-US" dirty="0"/>
              <a:t>따라서 다음과 같은 변형을 줌</a:t>
            </a:r>
            <a:endParaRPr lang="en-US" altLang="ko-KR" dirty="0"/>
          </a:p>
          <a:p>
            <a:pPr marL="800100" lvl="1" indent="-342900"/>
            <a:r>
              <a:rPr lang="en-US" altLang="ko-KR" dirty="0"/>
              <a:t>Mini-batch based update (</a:t>
            </a:r>
            <a:r>
              <a:rPr lang="ko-KR" altLang="en-US" dirty="0"/>
              <a:t>따라서 </a:t>
            </a:r>
            <a:r>
              <a:rPr lang="en-US" altLang="ko-KR" dirty="0"/>
              <a:t>center </a:t>
            </a:r>
            <a:r>
              <a:rPr lang="ko-KR" altLang="en-US" dirty="0"/>
              <a:t>몇 개는 </a:t>
            </a:r>
            <a:r>
              <a:rPr lang="en-US" altLang="ko-KR" dirty="0"/>
              <a:t>update </a:t>
            </a:r>
            <a:r>
              <a:rPr lang="ko-KR" altLang="en-US" dirty="0"/>
              <a:t>안 될 수도</a:t>
            </a:r>
            <a:r>
              <a:rPr lang="en-US" altLang="ko-KR" dirty="0"/>
              <a:t>)</a:t>
            </a:r>
          </a:p>
          <a:p>
            <a:pPr marL="800100" lvl="1" indent="-342900"/>
            <a:r>
              <a:rPr lang="en-US" altLang="ko-KR" dirty="0"/>
              <a:t>Mislabeled samples</a:t>
            </a:r>
            <a:r>
              <a:rPr lang="ko-KR" altLang="en-US" dirty="0"/>
              <a:t>로 인한 오차 줄이기 위해 </a:t>
            </a:r>
            <a:r>
              <a:rPr lang="en-US" altLang="ko-KR" dirty="0"/>
              <a:t>learning rate </a:t>
            </a:r>
            <a:r>
              <a:rPr lang="ko-KR" altLang="en-US" dirty="0"/>
              <a:t>사용</a:t>
            </a:r>
            <a:endParaRPr lang="en-US" altLang="ko-KR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671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01DED-3E3A-4166-9C4E-7B0E77FE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Center loss gradient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42FF8A-0980-4AE4-A351-BC975FF525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62050"/>
                <a:ext cx="10897998" cy="51625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342900" indent="-342900"/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[∆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,∆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,…,∆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0" lv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1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𝑐𝑙𝑎𝑠𝑠</m:t>
                      </m:r>
                      <m:r>
                        <a:rPr lang="en-US" altLang="ko-KR" sz="1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𝑛𝑢𝑚𝑏𝑒𝑟</m:t>
                      </m:r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∙(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chr m:val="∑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ko-KR" dirty="0"/>
              </a:p>
              <a:p>
                <a:pPr marL="0" indent="0">
                  <a:buNone/>
                </a:pPr>
                <a:endParaRPr lang="en-US" altLang="ko-KR" sz="1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𝑐𝑜𝑛𝑑𝑖𝑡𝑜𝑛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𝑐𝑜𝑛𝑑𝑖𝑡𝑖𝑜𝑛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𝑠𝑎𝑡𝑖𝑠𝑖𝑓𝑖𝑒𝑑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𝑐𝑜𝑛𝑑𝑖𝑡𝑖𝑜𝑛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𝑛𝑜𝑡</m:t>
                      </m:r>
                    </m:oMath>
                  </m:oMathPara>
                </a14:m>
                <a:endParaRPr lang="en-US" altLang="ko-KR" sz="1400" b="0" dirty="0"/>
              </a:p>
              <a:p>
                <a:pPr marL="0" indent="0" algn="ctr">
                  <a:buNone/>
                </a:pPr>
                <a:endParaRPr lang="en-US" altLang="ko-KR" sz="14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42FF8A-0980-4AE4-A351-BC975FF525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62050"/>
                <a:ext cx="10897998" cy="516255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F62E2-03D6-4A35-961D-0DBC6977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016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01DED-3E3A-4166-9C4E-7B0E77FE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supervision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42FF8A-0980-4AE4-A351-BC975FF525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62050"/>
                <a:ext cx="10897998" cy="51625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ko-KR" dirty="0"/>
              </a:p>
              <a:p>
                <a:pPr marL="342900" indent="-342900"/>
                <a:r>
                  <a:rPr lang="en-US" dirty="0" err="1"/>
                  <a:t>Softmax</a:t>
                </a:r>
                <a:r>
                  <a:rPr lang="en-US" dirty="0"/>
                  <a:t> loss </a:t>
                </a:r>
                <a:r>
                  <a:rPr lang="ko-KR" altLang="en-US" dirty="0"/>
                  <a:t>만 사용하면 </a:t>
                </a:r>
                <a:r>
                  <a:rPr lang="en-US" altLang="ko-KR" dirty="0"/>
                  <a:t>intra-class variations </a:t>
                </a:r>
                <a:r>
                  <a:rPr lang="ko-KR" altLang="en-US" dirty="0"/>
                  <a:t>못 줄임</a:t>
                </a:r>
                <a:r>
                  <a:rPr lang="en-US" altLang="ko-KR" dirty="0"/>
                  <a:t>.</a:t>
                </a:r>
              </a:p>
              <a:p>
                <a:pPr marL="342900" indent="-342900"/>
                <a:r>
                  <a:rPr lang="en-US" dirty="0"/>
                  <a:t>Center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loss</a:t>
                </a:r>
                <a:r>
                  <a:rPr lang="ko-KR" altLang="en-US" dirty="0"/>
                  <a:t> 만 사용하면 모든 </a:t>
                </a:r>
                <a:r>
                  <a:rPr lang="en-US" altLang="ko-KR" dirty="0"/>
                  <a:t>feature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으로 수렴하게 됨</a:t>
                </a:r>
                <a:endParaRPr lang="en-US" altLang="ko-KR" dirty="0"/>
              </a:p>
              <a:p>
                <a:pPr marL="342900" indent="-342900"/>
                <a:r>
                  <a:rPr lang="en-US" altLang="ko-KR" dirty="0"/>
                  <a:t>Discriminative</a:t>
                </a:r>
                <a:r>
                  <a:rPr lang="ko-KR" altLang="en-US" dirty="0"/>
                  <a:t>한 </a:t>
                </a:r>
                <a:r>
                  <a:rPr lang="en-US" altLang="ko-KR" dirty="0"/>
                  <a:t>feature </a:t>
                </a:r>
                <a:r>
                  <a:rPr lang="ko-KR" altLang="en-US" dirty="0"/>
                  <a:t>위해 </a:t>
                </a:r>
                <a:r>
                  <a:rPr lang="en-US" altLang="ko-KR" dirty="0" err="1"/>
                  <a:t>softmax</a:t>
                </a:r>
                <a:r>
                  <a:rPr lang="en-US" altLang="ko-KR" dirty="0"/>
                  <a:t> loss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center loss</a:t>
                </a:r>
                <a:r>
                  <a:rPr lang="ko-KR" altLang="en-US" dirty="0"/>
                  <a:t>으로 </a:t>
                </a:r>
                <a:r>
                  <a:rPr lang="en-US" altLang="ko-KR" dirty="0"/>
                  <a:t>joint supervision </a:t>
                </a:r>
                <a:r>
                  <a:rPr lang="ko-KR" altLang="en-US" dirty="0"/>
                  <a:t>실행</a:t>
                </a:r>
                <a:endParaRPr lang="en-US" altLang="ko-KR" dirty="0"/>
              </a:p>
              <a:p>
                <a:pPr marL="342900" indent="-342900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ko-KR" altLang="en-US" dirty="0"/>
                  <a:t> 두 </a:t>
                </a:r>
                <a:r>
                  <a:rPr lang="en-US" altLang="ko-KR" dirty="0"/>
                  <a:t>loss function</a:t>
                </a:r>
                <a:r>
                  <a:rPr lang="ko-KR" altLang="en-US" dirty="0"/>
                  <a:t>간의 </a:t>
                </a:r>
                <a:r>
                  <a:rPr lang="en-US" altLang="ko-KR" dirty="0"/>
                  <a:t>balance</a:t>
                </a:r>
                <a:r>
                  <a:rPr lang="ko-KR" altLang="en-US" dirty="0"/>
                  <a:t>를 맞춤</a:t>
                </a:r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  <a:p>
                <a:pPr marL="342900" indent="-342900"/>
                <a:endParaRPr 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42FF8A-0980-4AE4-A351-BC975FF525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62050"/>
                <a:ext cx="10897998" cy="5162550"/>
              </a:xfrm>
              <a:blipFill>
                <a:blip r:embed="rId2"/>
                <a:stretch>
                  <a:fillRect l="-10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F62E2-03D6-4A35-961D-0DBC6977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871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01DED-3E3A-4166-9C4E-7B0E77FE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supervision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42FF8A-0980-4AE4-A351-BC975FF525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62050"/>
                <a:ext cx="10897998" cy="5162550"/>
              </a:xfrm>
            </p:spPr>
            <p:txBody>
              <a:bodyPr>
                <a:normAutofit/>
              </a:bodyPr>
              <a:lstStyle/>
              <a:p>
                <a:pPr marL="342900" indent="-342900"/>
                <a:r>
                  <a:rPr lang="en-US" altLang="ko-KR" dirty="0"/>
                  <a:t>Center loss </a:t>
                </a:r>
                <a:r>
                  <a:rPr lang="ko-KR" altLang="en-US" dirty="0"/>
                  <a:t>많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사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용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수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록</m:t>
                    </m:r>
                  </m:oMath>
                </a14:m>
                <a:r>
                  <a:rPr lang="en-US" dirty="0"/>
                  <a:t> </a:t>
                </a:r>
                <a:r>
                  <a:rPr lang="ko-KR" altLang="en-US" dirty="0"/>
                  <a:t>각 </a:t>
                </a:r>
                <a:r>
                  <a:rPr lang="en-US" altLang="ko-KR" dirty="0"/>
                  <a:t>class</a:t>
                </a:r>
                <a:r>
                  <a:rPr lang="ko-KR" altLang="en-US" dirty="0"/>
                  <a:t>의 </a:t>
                </a:r>
                <a:r>
                  <a:rPr lang="en-US" altLang="ko-KR" dirty="0"/>
                  <a:t>feature</a:t>
                </a:r>
                <a:r>
                  <a:rPr lang="ko-KR" altLang="en-US" dirty="0"/>
                  <a:t>들이 한점에 모이는 것을 볼 수 있음</a:t>
                </a:r>
                <a:r>
                  <a:rPr lang="en-US" altLang="ko-KR" dirty="0"/>
                  <a:t>(intra-class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compact</a:t>
                </a:r>
                <a:r>
                  <a:rPr lang="ko-KR" altLang="en-US" dirty="0"/>
                  <a:t>해짐</a:t>
                </a:r>
                <a:r>
                  <a:rPr lang="en-US" altLang="ko-KR" dirty="0"/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42FF8A-0980-4AE4-A351-BC975FF525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62050"/>
                <a:ext cx="10897998" cy="5162550"/>
              </a:xfrm>
              <a:blipFill>
                <a:blip r:embed="rId2"/>
                <a:stretch>
                  <a:fillRect l="-1007" t="-1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F62E2-03D6-4A35-961D-0DBC6977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13</a:t>
            </a:fld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18126D-4F45-4C90-94DE-20D2FDB2B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883" y="2031619"/>
            <a:ext cx="6144631" cy="437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466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5A6096-A2F2-4C43-918C-88696767F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14</a:t>
            </a:fld>
            <a:endParaRPr 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3AFEEEC-71BF-401C-BB43-37636015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168"/>
            <a:ext cx="10515600" cy="2852737"/>
          </a:xfrm>
        </p:spPr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1216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01DED-3E3A-4166-9C4E-7B0E77FE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setting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2FF8A-0980-4AE4-A351-BC975FF52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3661"/>
            <a:ext cx="10515600" cy="5162550"/>
          </a:xfrm>
        </p:spPr>
        <p:txBody>
          <a:bodyPr>
            <a:normAutofit/>
          </a:bodyPr>
          <a:lstStyle/>
          <a:p>
            <a:pPr marL="342900" indent="-342900"/>
            <a:r>
              <a:rPr lang="en-US" dirty="0"/>
              <a:t>Preprocessing </a:t>
            </a:r>
          </a:p>
          <a:p>
            <a:pPr marL="800100" lvl="1" indent="-342900"/>
            <a:r>
              <a:rPr lang="en-US" dirty="0"/>
              <a:t>Use 5 landmarks(two eyes, nose and mouth corners)</a:t>
            </a:r>
          </a:p>
          <a:p>
            <a:pPr marL="342900" indent="-342900"/>
            <a:r>
              <a:rPr lang="en-US" dirty="0"/>
              <a:t>Training data</a:t>
            </a:r>
          </a:p>
          <a:p>
            <a:pPr marL="800100" lvl="1" indent="-342900"/>
            <a:r>
              <a:rPr lang="en-US" altLang="ko-KR" dirty="0"/>
              <a:t>CASIA-</a:t>
            </a:r>
            <a:r>
              <a:rPr lang="en-US" altLang="ko-KR" dirty="0" err="1"/>
              <a:t>WeFace</a:t>
            </a:r>
            <a:r>
              <a:rPr lang="en-US" altLang="ko-KR" dirty="0"/>
              <a:t>, CACD2000, Celebrity+</a:t>
            </a:r>
            <a:endParaRPr lang="en-US" dirty="0"/>
          </a:p>
          <a:p>
            <a:pPr marL="342900" indent="-342900"/>
            <a:r>
              <a:rPr lang="en-US" dirty="0"/>
              <a:t>CNN detailed setting</a:t>
            </a:r>
          </a:p>
          <a:p>
            <a:pPr marL="800100" lvl="1" indent="-342900"/>
            <a:r>
              <a:rPr lang="en-US" dirty="0"/>
              <a:t>Model A : only </a:t>
            </a:r>
            <a:r>
              <a:rPr lang="en-US" dirty="0" err="1"/>
              <a:t>softmax</a:t>
            </a:r>
            <a:r>
              <a:rPr lang="en-US" dirty="0"/>
              <a:t> loss</a:t>
            </a:r>
          </a:p>
          <a:p>
            <a:pPr marL="800100" lvl="1" indent="-342900"/>
            <a:r>
              <a:rPr lang="en-US" dirty="0"/>
              <a:t>Model B : </a:t>
            </a:r>
            <a:r>
              <a:rPr lang="en-US" dirty="0" err="1"/>
              <a:t>softmax</a:t>
            </a:r>
            <a:r>
              <a:rPr lang="en-US" dirty="0"/>
              <a:t> &amp; contrastive loss</a:t>
            </a:r>
          </a:p>
          <a:p>
            <a:pPr marL="800100" lvl="1" indent="-342900"/>
            <a:r>
              <a:rPr lang="en-US" dirty="0"/>
              <a:t>Model C : </a:t>
            </a:r>
            <a:r>
              <a:rPr lang="en-US" dirty="0" err="1"/>
              <a:t>softmax</a:t>
            </a:r>
            <a:r>
              <a:rPr lang="en-US" dirty="0"/>
              <a:t> &amp; </a:t>
            </a:r>
            <a:r>
              <a:rPr lang="en-US" dirty="0" err="1"/>
              <a:t>ceter</a:t>
            </a:r>
            <a:r>
              <a:rPr lang="en-US" dirty="0"/>
              <a:t> loss</a:t>
            </a:r>
          </a:p>
          <a:p>
            <a:pPr marL="342900" indent="-342900"/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F62E2-03D6-4A35-961D-0DBC6977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15</a:t>
            </a:fld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20D2C0-B724-4FB0-9278-85FAB9B8B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1523" y="4194409"/>
            <a:ext cx="5029199" cy="216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972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77301DED-3E3A-4166-9C4E-7B0E77FEDC2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Experiments on parameter 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77301DED-3E3A-4166-9C4E-7B0E77FEDC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42FF8A-0980-4AE4-A351-BC975FF525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58875"/>
                <a:ext cx="10515600" cy="5162550"/>
              </a:xfrm>
            </p:spPr>
            <p:txBody>
              <a:bodyPr>
                <a:normAutofit/>
              </a:bodyPr>
              <a:lstStyle/>
              <a:p>
                <a:pPr marL="342900" indent="-34290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b="0" dirty="0">
                    <a:latin typeface="Cambria Math" panose="02040503050406030204" pitchFamily="18" charset="0"/>
                  </a:rPr>
                  <a:t>: </a:t>
                </a:r>
                <a:r>
                  <a:rPr lang="en-US" b="0" dirty="0"/>
                  <a:t>center loss </a:t>
                </a:r>
                <a:r>
                  <a:rPr lang="ko-KR" altLang="en-US" dirty="0"/>
                  <a:t>얼마나 사용할지</a:t>
                </a:r>
                <a:r>
                  <a:rPr lang="en-US" b="0" i="1" dirty="0"/>
                  <a:t> </a:t>
                </a:r>
              </a:p>
              <a:p>
                <a:pPr marL="342900" indent="-34290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: center loss learning rate</a:t>
                </a:r>
              </a:p>
              <a:p>
                <a:pPr marL="342900" indent="-342900"/>
                <a:endParaRPr 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42FF8A-0980-4AE4-A351-BC975FF525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58875"/>
                <a:ext cx="10515600" cy="5162550"/>
              </a:xfrm>
              <a:blipFill>
                <a:blip r:embed="rId3"/>
                <a:stretch>
                  <a:fillRect t="-20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F62E2-03D6-4A35-961D-0DBC6977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16</a:t>
            </a:fld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07E2AAB-4526-4FDF-BC81-AFAEBFB98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629" y="2496928"/>
            <a:ext cx="8675077" cy="30920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370431-7196-4628-8BFA-BA5A3B242042}"/>
                  </a:ext>
                </a:extLst>
              </p:cNvPr>
              <p:cNvSpPr txBox="1"/>
              <p:nvPr/>
            </p:nvSpPr>
            <p:spPr>
              <a:xfrm>
                <a:off x="2520463" y="5770535"/>
                <a:ext cx="19811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고정</a:t>
                </a:r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370431-7196-4628-8BFA-BA5A3B242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463" y="5770535"/>
                <a:ext cx="1981198" cy="369332"/>
              </a:xfrm>
              <a:prstGeom prst="rect">
                <a:avLst/>
              </a:prstGeom>
              <a:blipFill>
                <a:blip r:embed="rId5"/>
                <a:stretch>
                  <a:fillRect t="-13333" b="-2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1AEC16-0BC1-4575-BAE7-42940B5BAFA9}"/>
                  </a:ext>
                </a:extLst>
              </p:cNvPr>
              <p:cNvSpPr txBox="1"/>
              <p:nvPr/>
            </p:nvSpPr>
            <p:spPr>
              <a:xfrm>
                <a:off x="6775940" y="5770535"/>
                <a:ext cx="19811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003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고정</a:t>
                </a:r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1AEC16-0BC1-4575-BAE7-42940B5BA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5940" y="5770535"/>
                <a:ext cx="1981198" cy="369332"/>
              </a:xfrm>
              <a:prstGeom prst="rect">
                <a:avLst/>
              </a:prstGeom>
              <a:blipFill>
                <a:blip r:embed="rId6"/>
                <a:stretch>
                  <a:fillRect t="-13333" r="-1231" b="-2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6849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01DED-3E3A-4166-9C4E-7B0E77FE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 on the LFW and YTF Datasets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2FF8A-0980-4AE4-A351-BC975FF52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8875"/>
            <a:ext cx="10515600" cy="5162550"/>
          </a:xfrm>
        </p:spPr>
        <p:txBody>
          <a:bodyPr>
            <a:normAutofit/>
          </a:bodyPr>
          <a:lstStyle/>
          <a:p>
            <a:pPr marL="342900" indent="-342900"/>
            <a:r>
              <a:rPr lang="en-US" dirty="0"/>
              <a:t>LFW </a:t>
            </a:r>
            <a:r>
              <a:rPr lang="en-US" b="0" dirty="0">
                <a:latin typeface="Cambria Math" panose="02040503050406030204" pitchFamily="18" charset="0"/>
              </a:rPr>
              <a:t>: </a:t>
            </a:r>
            <a:r>
              <a:rPr lang="en-US" b="0" dirty="0"/>
              <a:t>13233 web collected image from 5749 different identities</a:t>
            </a:r>
            <a:endParaRPr lang="en-US" b="0" i="1" dirty="0"/>
          </a:p>
          <a:p>
            <a:pPr marL="342900" indent="-342900"/>
            <a:r>
              <a:rPr lang="en-US" dirty="0"/>
              <a:t>YTF  : 3425 videos of 1595 different people</a:t>
            </a:r>
          </a:p>
          <a:p>
            <a:pPr marL="342900" indent="-342900"/>
            <a:endParaRPr lang="en-US" dirty="0"/>
          </a:p>
          <a:p>
            <a:pPr marL="342900" indent="-342900"/>
            <a:r>
              <a:rPr lang="en-US" altLang="ko-KR" dirty="0"/>
              <a:t>Baseline model </a:t>
            </a:r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보다 좋은 성능</a:t>
            </a:r>
            <a:endParaRPr lang="en-US" altLang="ko-KR" dirty="0"/>
          </a:p>
          <a:p>
            <a:pPr marL="342900" indent="-342900"/>
            <a:r>
              <a:rPr lang="ko-KR" altLang="en-US" dirty="0"/>
              <a:t>다른 </a:t>
            </a:r>
            <a:r>
              <a:rPr lang="en-US" altLang="ko-KR" dirty="0"/>
              <a:t>model</a:t>
            </a:r>
            <a:r>
              <a:rPr lang="ko-KR" altLang="en-US" dirty="0"/>
              <a:t>들과 </a:t>
            </a:r>
            <a:endParaRPr lang="en-US" altLang="ko-KR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ko-KR" altLang="en-US" dirty="0"/>
              <a:t>비교해봐도</a:t>
            </a:r>
            <a:r>
              <a:rPr lang="en-US" altLang="ko-KR" dirty="0"/>
              <a:t> </a:t>
            </a:r>
            <a:r>
              <a:rPr lang="ko-KR" altLang="en-US" dirty="0"/>
              <a:t>간단한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network </a:t>
            </a:r>
            <a:r>
              <a:rPr lang="ko-KR" altLang="en-US" dirty="0"/>
              <a:t>대비 좋은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성능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F62E2-03D6-4A35-961D-0DBC6977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17</a:t>
            </a:fld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B3E88B-9969-455D-9D99-CFE96EBFE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967" y="2556968"/>
            <a:ext cx="7248018" cy="348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181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01DED-3E3A-4166-9C4E-7B0E77FE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Experiments on the dataset of </a:t>
            </a:r>
            <a:r>
              <a:rPr lang="en-US" altLang="ko-KR" dirty="0" err="1"/>
              <a:t>MegaFace</a:t>
            </a:r>
            <a:r>
              <a:rPr lang="en-US" altLang="ko-KR" dirty="0"/>
              <a:t> challenge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2FF8A-0980-4AE4-A351-BC975FF52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737"/>
            <a:ext cx="10515600" cy="5162550"/>
          </a:xfrm>
        </p:spPr>
        <p:txBody>
          <a:bodyPr>
            <a:normAutofit/>
          </a:bodyPr>
          <a:lstStyle/>
          <a:p>
            <a:pPr marL="342900" indent="-342900"/>
            <a:r>
              <a:rPr lang="en-US" altLang="ko-KR" dirty="0" err="1"/>
              <a:t>Megaface</a:t>
            </a:r>
            <a:r>
              <a:rPr lang="en-US" altLang="ko-KR" dirty="0"/>
              <a:t> challenge : </a:t>
            </a:r>
            <a:r>
              <a:rPr lang="ko-KR" altLang="en-US" dirty="0"/>
              <a:t>수만개의 </a:t>
            </a:r>
            <a:r>
              <a:rPr lang="en-US" altLang="ko-KR" dirty="0"/>
              <a:t>distractors</a:t>
            </a:r>
            <a:r>
              <a:rPr lang="ko-KR" altLang="en-US" dirty="0"/>
              <a:t>에서 </a:t>
            </a:r>
            <a:r>
              <a:rPr lang="en-US" altLang="ko-KR" dirty="0"/>
              <a:t>face recognition(</a:t>
            </a:r>
            <a:r>
              <a:rPr lang="ko-KR" altLang="en-US" dirty="0"/>
              <a:t>어려움</a:t>
            </a:r>
            <a:r>
              <a:rPr lang="en-US" altLang="ko-KR" dirty="0"/>
              <a:t>)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F62E2-03D6-4A35-961D-0DBC6977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18</a:t>
            </a:fld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D6AFA0-35AC-4F25-B644-C5E87A472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07" y="2409223"/>
            <a:ext cx="5276538" cy="260239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39153F4-7529-471D-B78B-D094CC8B3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835" y="2420947"/>
            <a:ext cx="5609492" cy="2650127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05EE5DDC-6666-44A8-87D2-4653086D8A3E}"/>
              </a:ext>
            </a:extLst>
          </p:cNvPr>
          <p:cNvSpPr txBox="1">
            <a:spLocks/>
          </p:cNvSpPr>
          <p:nvPr/>
        </p:nvSpPr>
        <p:spPr>
          <a:xfrm>
            <a:off x="776345" y="5084771"/>
            <a:ext cx="10515600" cy="5162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dirty="0"/>
              <a:t>Baseline </a:t>
            </a:r>
            <a:r>
              <a:rPr lang="ko-KR" altLang="en-US" dirty="0"/>
              <a:t>대비 좋은 성능 내고 있음</a:t>
            </a:r>
            <a:endParaRPr lang="en-US" altLang="ko-KR" dirty="0"/>
          </a:p>
          <a:p>
            <a:pPr marL="342900" indent="-342900"/>
            <a:r>
              <a:rPr lang="en-US" altLang="ko-KR" dirty="0"/>
              <a:t>Network </a:t>
            </a:r>
            <a:r>
              <a:rPr lang="ko-KR" altLang="en-US" dirty="0"/>
              <a:t>크기 대비 괜찮은 성능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6636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5A6096-A2F2-4C43-918C-88696767F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19</a:t>
            </a:fld>
            <a:endParaRPr 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3AFEEEC-71BF-401C-BB43-37636015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168"/>
            <a:ext cx="10515600" cy="2852737"/>
          </a:xfrm>
        </p:spPr>
        <p:txBody>
          <a:bodyPr/>
          <a:lstStyle/>
          <a:p>
            <a:r>
              <a:rPr lang="en-US" altLang="ko-KR" dirty="0"/>
              <a:t>Conclusions &amp; Takeaway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6475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01DED-3E3A-4166-9C4E-7B0E77FE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2FF8A-0980-4AE4-A351-BC975FF52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8875"/>
            <a:ext cx="10515600" cy="5162550"/>
          </a:xfrm>
        </p:spPr>
        <p:txBody>
          <a:bodyPr>
            <a:normAutofit/>
          </a:bodyPr>
          <a:lstStyle/>
          <a:p>
            <a:pPr marL="342900" indent="-342900"/>
            <a:r>
              <a:rPr lang="en-US" altLang="ko-KR" dirty="0"/>
              <a:t>Feature</a:t>
            </a:r>
            <a:r>
              <a:rPr lang="ko-KR" altLang="en-US" dirty="0"/>
              <a:t>들을 </a:t>
            </a:r>
            <a:r>
              <a:rPr lang="en-US" altLang="ko-KR" dirty="0"/>
              <a:t>discriminative</a:t>
            </a:r>
            <a:r>
              <a:rPr lang="ko-KR" altLang="en-US" dirty="0"/>
              <a:t>하게 만드는 것을 </a:t>
            </a:r>
            <a:r>
              <a:rPr lang="en-US" altLang="ko-KR" dirty="0"/>
              <a:t>face recognition</a:t>
            </a:r>
            <a:r>
              <a:rPr lang="ko-KR" altLang="en-US" dirty="0"/>
              <a:t>에서 중요함</a:t>
            </a:r>
            <a:endParaRPr lang="en-US" altLang="ko-KR" dirty="0"/>
          </a:p>
          <a:p>
            <a:pPr marL="342900" indent="-342900"/>
            <a:r>
              <a:rPr lang="ko-KR" altLang="en-US" dirty="0"/>
              <a:t>기존 </a:t>
            </a:r>
            <a:r>
              <a:rPr lang="en-US" altLang="ko-KR" dirty="0" err="1"/>
              <a:t>softmax</a:t>
            </a:r>
            <a:r>
              <a:rPr lang="en-US" altLang="ko-KR" dirty="0"/>
              <a:t> loss</a:t>
            </a:r>
            <a:r>
              <a:rPr lang="ko-KR" altLang="en-US" dirty="0"/>
              <a:t>로는 </a:t>
            </a:r>
            <a:r>
              <a:rPr lang="en-US" altLang="ko-KR" dirty="0"/>
              <a:t>discriminative</a:t>
            </a:r>
            <a:r>
              <a:rPr lang="ko-KR" altLang="en-US" dirty="0"/>
              <a:t>하게 학습시키지 못함</a:t>
            </a:r>
            <a:endParaRPr lang="en-US" altLang="ko-KR" dirty="0"/>
          </a:p>
          <a:p>
            <a:pPr marL="342900" indent="-342900"/>
            <a:r>
              <a:rPr lang="ko-KR" altLang="en-US" dirty="0"/>
              <a:t>따라서 새로운 </a:t>
            </a:r>
            <a:r>
              <a:rPr lang="en-US" altLang="ko-KR" dirty="0"/>
              <a:t>loss</a:t>
            </a:r>
            <a:r>
              <a:rPr lang="ko-KR" altLang="en-US" dirty="0"/>
              <a:t>인 </a:t>
            </a:r>
            <a:r>
              <a:rPr lang="en-US" altLang="ko-KR" dirty="0"/>
              <a:t>center loss</a:t>
            </a:r>
            <a:r>
              <a:rPr lang="ko-KR" altLang="en-US" dirty="0"/>
              <a:t>를 개발</a:t>
            </a:r>
            <a:endParaRPr lang="en-US" altLang="ko-KR" dirty="0"/>
          </a:p>
          <a:p>
            <a:pPr marL="342900" indent="-342900"/>
            <a:r>
              <a:rPr lang="en-US" altLang="ko-KR" dirty="0"/>
              <a:t>Center loss</a:t>
            </a:r>
            <a:r>
              <a:rPr lang="ko-KR" altLang="en-US" dirty="0"/>
              <a:t>와 </a:t>
            </a:r>
            <a:r>
              <a:rPr lang="en-US" altLang="ko-KR" dirty="0" err="1"/>
              <a:t>softmax</a:t>
            </a:r>
            <a:r>
              <a:rPr lang="en-US" altLang="ko-KR" dirty="0"/>
              <a:t> loss</a:t>
            </a:r>
            <a:r>
              <a:rPr lang="ko-KR" altLang="en-US" dirty="0"/>
              <a:t>의 </a:t>
            </a:r>
            <a:r>
              <a:rPr lang="en-US" altLang="ko-KR" dirty="0"/>
              <a:t>joint supervision</a:t>
            </a:r>
            <a:r>
              <a:rPr lang="ko-KR" altLang="en-US" dirty="0"/>
              <a:t>으로 성능을 향상시킬 수 있음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F62E2-03D6-4A35-961D-0DBC6977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018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01DED-3E3A-4166-9C4E-7B0E77FE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2FF8A-0980-4AE4-A351-BC975FF52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8875"/>
            <a:ext cx="10515600" cy="5162550"/>
          </a:xfrm>
        </p:spPr>
        <p:txBody>
          <a:bodyPr>
            <a:normAutofit/>
          </a:bodyPr>
          <a:lstStyle/>
          <a:p>
            <a:pPr marL="342900" indent="-342900"/>
            <a:r>
              <a:rPr lang="ko-KR" altLang="en-US" dirty="0"/>
              <a:t>나누기만 하면 되는지 알았는데 </a:t>
            </a:r>
            <a:r>
              <a:rPr lang="en-US" altLang="ko-KR" dirty="0"/>
              <a:t>discriminative </a:t>
            </a:r>
            <a:r>
              <a:rPr lang="ko-KR" altLang="en-US" dirty="0"/>
              <a:t>같은 개념도 있다는 걸 배웠음</a:t>
            </a:r>
            <a:endParaRPr lang="en-US" altLang="ko-KR" dirty="0"/>
          </a:p>
          <a:p>
            <a:pPr marL="342900" indent="-342900"/>
            <a:r>
              <a:rPr lang="en-US" altLang="ko-KR" dirty="0"/>
              <a:t>Feature</a:t>
            </a:r>
            <a:r>
              <a:rPr lang="ko-KR" altLang="en-US" dirty="0"/>
              <a:t>들을 다른 관점에서도 볼 수 있는지도 궁금함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F62E2-03D6-4A35-961D-0DBC6977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8FD6-5B8F-4B42-80AC-0030065FA82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22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5805</TotalTime>
  <Words>688</Words>
  <Application>Microsoft Office PowerPoint</Application>
  <PresentationFormat>와이드스크린</PresentationFormat>
  <Paragraphs>146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맑은 고딕</vt:lpstr>
      <vt:lpstr>Arial</vt:lpstr>
      <vt:lpstr>Calibri</vt:lpstr>
      <vt:lpstr>Cambria Math</vt:lpstr>
      <vt:lpstr>Office 테마</vt:lpstr>
      <vt:lpstr>Review:  A Discriminative Feature Learning Approach for Deep Face Recognition@ECCV’2016</vt:lpstr>
      <vt:lpstr>Introduction</vt:lpstr>
      <vt:lpstr>Introduction</vt:lpstr>
      <vt:lpstr>Introduction</vt:lpstr>
      <vt:lpstr>Introduction</vt:lpstr>
      <vt:lpstr>Center loss</vt:lpstr>
      <vt:lpstr>Toy example</vt:lpstr>
      <vt:lpstr>Toy example</vt:lpstr>
      <vt:lpstr>Center loss</vt:lpstr>
      <vt:lpstr>Center loss</vt:lpstr>
      <vt:lpstr>Center loss gradient</vt:lpstr>
      <vt:lpstr>Joint supervision</vt:lpstr>
      <vt:lpstr>Joint supervision</vt:lpstr>
      <vt:lpstr>Experiments</vt:lpstr>
      <vt:lpstr>Experimental setting</vt:lpstr>
      <vt:lpstr>Experiments on parameter λ and α</vt:lpstr>
      <vt:lpstr>Experiments on the LFW and YTF Datasets</vt:lpstr>
      <vt:lpstr>Experiments on the dataset of MegaFace challenge</vt:lpstr>
      <vt:lpstr>Conclusions &amp; Takeaway</vt:lpstr>
      <vt:lpstr>Conclusion</vt:lpstr>
      <vt:lpstr>Takeaway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Oh Heung-Seon</dc:creator>
  <cp:lastModifiedBy>kkm</cp:lastModifiedBy>
  <cp:revision>225</cp:revision>
  <dcterms:created xsi:type="dcterms:W3CDTF">2021-01-02T06:46:12Z</dcterms:created>
  <dcterms:modified xsi:type="dcterms:W3CDTF">2021-08-20T04:16:29Z</dcterms:modified>
</cp:coreProperties>
</file>